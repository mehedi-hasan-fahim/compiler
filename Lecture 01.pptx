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8"/>
  </p:notes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9" r:id="rId9"/>
    <p:sldId id="275" r:id="rId10"/>
    <p:sldId id="276" r:id="rId11"/>
    <p:sldId id="277" r:id="rId12"/>
    <p:sldId id="27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80" r:id="rId21"/>
    <p:sldId id="266" r:id="rId22"/>
    <p:sldId id="267" r:id="rId23"/>
    <p:sldId id="268" r:id="rId24"/>
    <p:sldId id="281" r:id="rId25"/>
    <p:sldId id="282" r:id="rId26"/>
    <p:sldId id="26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DE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81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3FB291-C0FC-45DD-B015-F8598BD616EA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7E288-D273-4095-89D3-13635330E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10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F8598FD-7AEC-42DC-8687-E99248A7669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410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BF1E-1E85-4630-B004-DD84A717DDB8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11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762FE-C518-470F-9491-61359EF8A716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39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33304-6346-4F28-95A3-21BD425AB591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58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A3037-86A8-4C61-B037-EABF053624D1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36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F98D-6C65-40B6-8AE7-3E34548E76D0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64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6B9-3E90-48DA-B278-7448821C4654}" type="datetime1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68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FB662-FFE7-49AF-AD6F-91BCA71B8523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5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9B493-982F-43F8-B7DB-6A6F9EC8A2A9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15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A9C3-0FB3-424E-9F27-86E94221B48E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59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D5B2F-5498-491F-A1C9-9DBCB5C3D3BB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651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34A4EDB-5272-4A38-A0B8-9113FF0E8165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2B01D29-DF77-4731-85B7-78FFF9CA8C6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571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488B9-8FD2-10AD-2703-D366EB8D5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2013" y="4960137"/>
            <a:ext cx="7834964" cy="1463040"/>
          </a:xfrm>
        </p:spPr>
        <p:txBody>
          <a:bodyPr>
            <a:normAutofit fontScale="90000"/>
          </a:bodyPr>
          <a:lstStyle/>
          <a:p>
            <a:r>
              <a:rPr lang="en-US" dirty="0"/>
              <a:t>Automata Theory &amp; Compiler Sess.</a:t>
            </a:r>
            <a:br>
              <a:rPr lang="en-US" dirty="0"/>
            </a:br>
            <a:r>
              <a:rPr lang="en-US" dirty="0"/>
              <a:t>Lecture 01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A6982-3C2C-0834-C52E-49B1DF02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207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C9CA7-B7F4-FEB0-A31C-43B320195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425" y="585215"/>
            <a:ext cx="9720072" cy="1499616"/>
          </a:xfrm>
        </p:spPr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Session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D1B1D-2F88-05BD-8279-17DBBE24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3D1C277-5734-2D76-7B83-B5D04BCB4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425" y="1661703"/>
            <a:ext cx="10322922" cy="472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00000"/>
              </a:lnSpc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Introduction to Flex and Bison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Set up environment and implement a basic lexical and syntax analyzer</a:t>
            </a:r>
          </a:p>
          <a:p>
            <a:pPr marL="342900" indent="-342900">
              <a:lnSpc>
                <a:spcPct val="200000"/>
              </a:lnSpc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By the end of this session, students will: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200000"/>
              </a:lnSpc>
              <a:buClr>
                <a:srgbClr val="1CADE4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Understand what Flex and Bison are</a:t>
            </a:r>
          </a:p>
          <a:p>
            <a:pPr marL="800100" lvl="1" indent="-342900">
              <a:lnSpc>
                <a:spcPct val="200000"/>
              </a:lnSpc>
              <a:buClr>
                <a:srgbClr val="1CADE4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Set up Flex and Bison on Windows (Code::Blocks + MinGW)</a:t>
            </a:r>
          </a:p>
          <a:p>
            <a:pPr marL="800100" lvl="1" indent="-342900">
              <a:lnSpc>
                <a:spcPct val="200000"/>
              </a:lnSpc>
              <a:buClr>
                <a:srgbClr val="1CADE4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Write and run a simple program that parses and evaluates arithmetic assignments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8119F1C-DF91-E8D3-D76B-0BEF14775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2909" y="3101838"/>
            <a:ext cx="284052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76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5531-1D05-4011-8570-1418D422C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What is compiler?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2589B-0825-4818-9350-E4575AC75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E87B5-B6DA-46AB-9BBD-F9F84F701F2A}"/>
              </a:ext>
            </a:extLst>
          </p:cNvPr>
          <p:cNvSpPr txBox="1"/>
          <p:nvPr/>
        </p:nvSpPr>
        <p:spPr>
          <a:xfrm>
            <a:off x="1024127" y="1866491"/>
            <a:ext cx="9813205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compiler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a special program that translates a high-level programming language (like C, Java) into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machine code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(low-level language) that a computer can understand.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Example: int a = b + c; → converted into assembly/machine code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232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DF9DB-E53F-49A1-A9D0-289C95197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Phases of a compiler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F467119-9B52-4B9A-864F-E26B9CAA0B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0993470"/>
              </p:ext>
            </p:extLst>
          </p:nvPr>
        </p:nvGraphicFramePr>
        <p:xfrm>
          <a:off x="1024128" y="1828800"/>
          <a:ext cx="9720262" cy="475488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777828607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3432682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306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Lexical Analysis</a:t>
                      </a:r>
                      <a:endParaRPr lang="en-US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Breaks code into </a:t>
                      </a:r>
                      <a:r>
                        <a:rPr lang="en-US" sz="2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tokens</a:t>
                      </a:r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(keywords, identifiers) using patterns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7529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Syntax Analysis</a:t>
                      </a:r>
                      <a:endParaRPr lang="en-US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Checks grammar using </a:t>
                      </a:r>
                      <a:r>
                        <a:rPr lang="en-US" sz="2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parsing</a:t>
                      </a:r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(derives parse tree)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02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Semantic Analysis</a:t>
                      </a:r>
                      <a:endParaRPr lang="en-US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Checks meaning (e.g., type checks)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05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Intermediate Code Generation</a:t>
                      </a:r>
                      <a:endParaRPr lang="en-US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Creates platform-independent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306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 Optimization</a:t>
                      </a:r>
                      <a:endParaRPr lang="en-US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Improves performance, removes redundancy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7730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2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 Code Generation</a:t>
                      </a:r>
                      <a:endParaRPr lang="en-US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Converts into target language (e.g., x86)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641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2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 Code Linking &amp; Assembly</a:t>
                      </a:r>
                      <a:endParaRPr lang="en-US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binary or executable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873989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05564-3E52-405D-9434-7863C952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0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8AA66-CA08-4C95-A196-7AD240ACF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What is flex?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DDE9A-05AF-4A0E-9AB8-6E6D330F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E21AA2-CBBC-470F-BD5A-DBAB5E85CB01}"/>
              </a:ext>
            </a:extLst>
          </p:cNvPr>
          <p:cNvSpPr txBox="1"/>
          <p:nvPr/>
        </p:nvSpPr>
        <p:spPr>
          <a:xfrm>
            <a:off x="1024128" y="1696621"/>
            <a:ext cx="9720072" cy="4092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Flex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stands for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Fast Lexical Analyzer Generator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generates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scanner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lexer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from .l files.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breaks input text into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tokens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regular expressions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Think of it like "reading code word by word.“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742950" lvl="1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kumimoji="0" lang="pl-PL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[0-9]+   → NUMBER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kumimoji="0" lang="pl-PL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[a-zA-Z_][a-zA-Z0-9_]* → IDENTIFIER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Font typeface="Arial" panose="020B0604020202020204" pitchFamily="34" charset="0"/>
              <a:buChar char="•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797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1F465-909F-459B-8874-A39EB765D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What is bison?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0BCF8-95EB-476D-8B9E-91860A7E4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BDB2CA-4AC0-4F61-B254-E8A2EEA38B03}"/>
              </a:ext>
            </a:extLst>
          </p:cNvPr>
          <p:cNvSpPr txBox="1"/>
          <p:nvPr/>
        </p:nvSpPr>
        <p:spPr>
          <a:xfrm>
            <a:off x="1024128" y="1890726"/>
            <a:ext cx="9572154" cy="3076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parser generator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processes the tokens provided by Flex and applies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grammar rules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helps us understand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structure and hierarchy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code.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742950" lvl="1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expression → expression + expression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198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B873-C92F-4CA9-B885-4580F5585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Regular Expression (Regex)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159E8-E4A1-4519-B410-D0318B54C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06FBD-FEC1-4094-B87D-0E8632034E40}"/>
              </a:ext>
            </a:extLst>
          </p:cNvPr>
          <p:cNvSpPr txBox="1"/>
          <p:nvPr/>
        </p:nvSpPr>
        <p:spPr>
          <a:xfrm>
            <a:off x="1024127" y="1801923"/>
            <a:ext cx="9070131" cy="155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compact way to describe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patterns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text.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Used in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lexical analysis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match identifiers, numbers, etc.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CC55172-4D47-4E9A-9BA1-1DCB2F6F7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35822"/>
              </p:ext>
            </p:extLst>
          </p:nvPr>
        </p:nvGraphicFramePr>
        <p:xfrm>
          <a:off x="1433092" y="3273252"/>
          <a:ext cx="7935026" cy="146304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3967513">
                  <a:extLst>
                    <a:ext uri="{9D8B030D-6E8A-4147-A177-3AD203B41FA5}">
                      <a16:colId xmlns:a16="http://schemas.microsoft.com/office/drawing/2014/main" val="248485828"/>
                    </a:ext>
                  </a:extLst>
                </a:gridCol>
                <a:gridCol w="3967513">
                  <a:extLst>
                    <a:ext uri="{9D8B030D-6E8A-4147-A177-3AD203B41FA5}">
                      <a16:colId xmlns:a16="http://schemas.microsoft.com/office/drawing/2014/main" val="20946936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Matches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7626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[0-9]+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Numbers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4171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[a-</a:t>
                      </a:r>
                      <a:r>
                        <a:rPr lang="en-US" dirty="0" err="1"/>
                        <a:t>zA</a:t>
                      </a:r>
                      <a:r>
                        <a:rPr lang="en-US" dirty="0"/>
                        <a:t>-Z_][a-zA-Z0-9_]*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Identifiers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291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[\t\n ]+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Whitespace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644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997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E565-123C-40A6-9EAF-2D71C7A8B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92981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1CADE4"/>
                </a:solidFill>
              </a:rPr>
              <a:t>Common Regex Symbols Used in Lexical Analysis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CE623F1-AB3C-4F85-AA2C-B169275CD5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2971585"/>
              </p:ext>
            </p:extLst>
          </p:nvPr>
        </p:nvGraphicFramePr>
        <p:xfrm>
          <a:off x="1233892" y="1657084"/>
          <a:ext cx="9510308" cy="4432302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377577">
                  <a:extLst>
                    <a:ext uri="{9D8B030D-6E8A-4147-A177-3AD203B41FA5}">
                      <a16:colId xmlns:a16="http://schemas.microsoft.com/office/drawing/2014/main" val="3910296837"/>
                    </a:ext>
                  </a:extLst>
                </a:gridCol>
                <a:gridCol w="2377577">
                  <a:extLst>
                    <a:ext uri="{9D8B030D-6E8A-4147-A177-3AD203B41FA5}">
                      <a16:colId xmlns:a16="http://schemas.microsoft.com/office/drawing/2014/main" val="3328319845"/>
                    </a:ext>
                  </a:extLst>
                </a:gridCol>
                <a:gridCol w="2377577">
                  <a:extLst>
                    <a:ext uri="{9D8B030D-6E8A-4147-A177-3AD203B41FA5}">
                      <a16:colId xmlns:a16="http://schemas.microsoft.com/office/drawing/2014/main" val="1410946232"/>
                    </a:ext>
                  </a:extLst>
                </a:gridCol>
                <a:gridCol w="2377577">
                  <a:extLst>
                    <a:ext uri="{9D8B030D-6E8A-4147-A177-3AD203B41FA5}">
                      <a16:colId xmlns:a16="http://schemas.microsoft.com/office/drawing/2014/main" val="2296580062"/>
                    </a:ext>
                  </a:extLst>
                </a:gridCol>
              </a:tblGrid>
              <a:tr h="22987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Symbol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Meaning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Example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Matches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extLst>
                  <a:ext uri="{0D108BD9-81ED-4DB2-BD59-A6C34878D82A}">
                    <a16:rowId xmlns:a16="http://schemas.microsoft.com/office/drawing/2014/main" val="334818535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[]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Matches </a:t>
                      </a:r>
                      <a:r>
                        <a:rPr lang="en-US" sz="1400" b="1" dirty="0"/>
                        <a:t>any one character</a:t>
                      </a:r>
                      <a:r>
                        <a:rPr lang="en-US" sz="1400" dirty="0"/>
                        <a:t> inside the brackets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[</a:t>
                      </a:r>
                      <a:r>
                        <a:rPr lang="en-US" sz="1400" dirty="0" err="1"/>
                        <a:t>abc</a:t>
                      </a:r>
                      <a:r>
                        <a:rPr lang="en-US" sz="1400" dirty="0"/>
                        <a:t>]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'a', 'b', or 'c'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extLst>
                  <a:ext uri="{0D108BD9-81ED-4DB2-BD59-A6C34878D82A}">
                    <a16:rowId xmlns:a16="http://schemas.microsoft.com/office/drawing/2014/main" val="1900846875"/>
                  </a:ext>
                </a:extLst>
              </a:tr>
              <a:tr h="40227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 (inside [])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Denotes a </a:t>
                      </a:r>
                      <a:r>
                        <a:rPr lang="en-US" sz="1400" b="1" dirty="0"/>
                        <a:t>range of characters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[0-9]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Any digit from 0 to 9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extLst>
                  <a:ext uri="{0D108BD9-81ED-4DB2-BD59-A6C34878D82A}">
                    <a16:rowId xmlns:a16="http://schemas.microsoft.com/office/drawing/2014/main" val="2926766962"/>
                  </a:ext>
                </a:extLst>
              </a:tr>
              <a:tr h="40227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+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Matches </a:t>
                      </a:r>
                      <a:r>
                        <a:rPr lang="en-US" sz="1400" b="1" dirty="0"/>
                        <a:t>one or more</a:t>
                      </a:r>
                      <a:r>
                        <a:rPr lang="en-US" sz="1400" dirty="0"/>
                        <a:t> of the previous pattern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[0-9]+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5, 123, 007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extLst>
                  <a:ext uri="{0D108BD9-81ED-4DB2-BD59-A6C34878D82A}">
                    <a16:rowId xmlns:a16="http://schemas.microsoft.com/office/drawing/2014/main" val="3192460485"/>
                  </a:ext>
                </a:extLst>
              </a:tr>
              <a:tr h="402272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*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Matches </a:t>
                      </a:r>
                      <a:r>
                        <a:rPr lang="en-US" sz="1400" b="1" dirty="0"/>
                        <a:t>zero or more</a:t>
                      </a:r>
                      <a:r>
                        <a:rPr lang="en-US" sz="1400" dirty="0"/>
                        <a:t> of the previous pattern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[a-z]*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"", hello, abcde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extLst>
                  <a:ext uri="{0D108BD9-81ED-4DB2-BD59-A6C34878D82A}">
                    <a16:rowId xmlns:a16="http://schemas.microsoft.com/office/drawing/2014/main" val="3172148167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.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Matches </a:t>
                      </a:r>
                      <a:r>
                        <a:rPr lang="en-US" sz="1400" b="1" dirty="0"/>
                        <a:t>any single character</a:t>
                      </a:r>
                      <a:r>
                        <a:rPr lang="en-US" sz="1400" dirty="0"/>
                        <a:t> (except newline)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.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a, 1, #, etc.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extLst>
                  <a:ext uri="{0D108BD9-81ED-4DB2-BD59-A6C34878D82A}">
                    <a16:rowId xmlns:a16="http://schemas.microsoft.com/office/drawing/2014/main" val="1181373914"/>
                  </a:ext>
                </a:extLst>
              </a:tr>
              <a:tr h="402272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^ (inside [])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/>
                        <a:t>Negates</a:t>
                      </a:r>
                      <a:r>
                        <a:rPr lang="en-US" sz="1400" dirty="0"/>
                        <a:t> the character class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[^0-9]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Any non-digit character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extLst>
                  <a:ext uri="{0D108BD9-81ED-4DB2-BD59-A6C34878D82A}">
                    <a16:rowId xmlns:a16="http://schemas.microsoft.com/office/drawing/2014/main" val="3471243501"/>
                  </a:ext>
                </a:extLst>
              </a:tr>
              <a:tr h="402272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?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Matches </a:t>
                      </a:r>
                      <a:r>
                        <a:rPr lang="en-US" sz="1400" b="1" dirty="0"/>
                        <a:t>zero or one</a:t>
                      </a:r>
                      <a:r>
                        <a:rPr lang="en-US" sz="1400" dirty="0"/>
                        <a:t> of the previous pattern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[0-9]?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"", 5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extLst>
                  <a:ext uri="{0D108BD9-81ED-4DB2-BD59-A6C34878D82A}">
                    <a16:rowId xmlns:a16="http://schemas.microsoft.com/office/drawing/2014/main" val="156669615"/>
                  </a:ext>
                </a:extLst>
              </a:tr>
              <a:tr h="22987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()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Groups expressions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(ab)+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ab, abab, ababab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extLst>
                  <a:ext uri="{0D108BD9-81ED-4DB2-BD59-A6C34878D82A}">
                    <a16:rowId xmlns:a16="http://schemas.microsoft.com/office/drawing/2014/main" val="2092857909"/>
                  </a:ext>
                </a:extLst>
              </a:tr>
              <a:tr h="40227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|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Logical OR (either this or that)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a|b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'a' or ‘b’  but not both at the same time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467" marR="57467" marT="28734" marB="28734" anchor="ctr"/>
                </a:tc>
                <a:extLst>
                  <a:ext uri="{0D108BD9-81ED-4DB2-BD59-A6C34878D82A}">
                    <a16:rowId xmlns:a16="http://schemas.microsoft.com/office/drawing/2014/main" val="161108404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49BF4-956E-4391-A531-ABF8F148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03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1D643-6511-465D-9F6D-88476E7EA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Example: A Simple Statement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09C62-5193-4A3F-9696-A27963BCB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say the user writes the following code:</a:t>
            </a:r>
          </a:p>
          <a:p>
            <a:r>
              <a:rPr lang="en-US" dirty="0"/>
              <a:t>x = 5 + 3;</a:t>
            </a:r>
          </a:p>
          <a:p>
            <a:endParaRPr lang="en-US" dirty="0"/>
          </a:p>
          <a:p>
            <a:r>
              <a:rPr lang="en-US" b="1" dirty="0"/>
              <a:t>Step 1: Lexical Analysis using Flex</a:t>
            </a:r>
          </a:p>
          <a:p>
            <a:r>
              <a:rPr lang="en-US" b="1" dirty="0"/>
              <a:t>Step 2: Syntax Analysis using Bison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81678-2F3A-45E1-8BA9-BB249298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67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2F0AA-63E6-43A1-9008-5AD9C3CF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Step 1: Lexical Analysis using Flex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78C17-B267-4F6C-90AB-2FFF05C95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260" y="2000912"/>
            <a:ext cx="9720073" cy="4023360"/>
          </a:xfrm>
        </p:spPr>
        <p:txBody>
          <a:bodyPr/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Flex reads the input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character by character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breaks it into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tokens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using regular expressions.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CB380-D6FA-407D-8C74-F954E4DB0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9C9B65-D5A7-405E-B345-88708C013E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166362"/>
              </p:ext>
            </p:extLst>
          </p:nvPr>
        </p:nvGraphicFramePr>
        <p:xfrm>
          <a:off x="1235869" y="3017520"/>
          <a:ext cx="9720261" cy="298704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3886942276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3893655827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11709007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Token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6698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"x"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458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'='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492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8394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'+'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683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847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';'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976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7481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47B37-850C-40BE-B422-B257BA4B6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Step 1: Lexical Analysis using Flex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0BC2B-9E86-4D6B-BE23-BA26AEFC7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246182-9404-4E8F-87A4-E804B75C4C48}"/>
              </a:ext>
            </a:extLst>
          </p:cNvPr>
          <p:cNvSpPr txBox="1"/>
          <p:nvPr/>
        </p:nvSpPr>
        <p:spPr>
          <a:xfrm>
            <a:off x="1024128" y="2374757"/>
            <a:ext cx="9643872" cy="2737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is handled by rules in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scanner.l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like: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[0-9]+                →   return NUMBER;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[a-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-Z_][a-zA-Z0-9_]* →  return IDENTIFIER;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"+"  →   return '+’;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979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88D0F-F39F-4E14-BA50-579DC7794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Step 2: Syntax Analysis using Bison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CE7B1-17FF-420F-821A-4D23CAF8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B3748A-9886-43CF-982B-5E6F1F26164C}"/>
              </a:ext>
            </a:extLst>
          </p:cNvPr>
          <p:cNvSpPr txBox="1"/>
          <p:nvPr/>
        </p:nvSpPr>
        <p:spPr>
          <a:xfrm>
            <a:off x="1024128" y="1779687"/>
            <a:ext cx="1049551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Bison takes these tokens and matches them against grammar rules to check if the structure is valid.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rule: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statement:   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IDENTIFIER '=' expression ‘;’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expression: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expression:   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  | expression '+' expression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So, x = 5 + 3; matches: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IDENTIFIER '=' (NUMBER '+' NUMBER) ';’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 OK!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Assign 8 to x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430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07CB4-A7B9-4395-B8E9-B72D1D8D7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C8292-DCCC-41C6-AD71-D363B710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55D998-C2A3-44FF-BF20-20504F3875B0}"/>
              </a:ext>
            </a:extLst>
          </p:cNvPr>
          <p:cNvSpPr txBox="1"/>
          <p:nvPr/>
        </p:nvSpPr>
        <p:spPr>
          <a:xfrm>
            <a:off x="1024128" y="1890726"/>
            <a:ext cx="9285284" cy="3076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lex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Fast lexical analyzer generator (tokenizes input text)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GNU parser generator (parses structured input)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Flex ≈ Lex (Lexical analysis)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Bison ≈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Yacc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(Yet Another Compiler Compiler)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Used in compiler front-end (lexical + syntactic analysis)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820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CA23F-AEE4-4DE3-8E21-C66274FF0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System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6307C-A53D-4289-9542-D70F9DE5F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6BB845-6C3D-413A-BC02-78AC699E4C80}"/>
              </a:ext>
            </a:extLst>
          </p:cNvPr>
          <p:cNvSpPr txBox="1"/>
          <p:nvPr/>
        </p:nvSpPr>
        <p:spPr>
          <a:xfrm>
            <a:off x="1024128" y="1990182"/>
            <a:ext cx="8702578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Code::Blocks IDE (with MinGW)</a:t>
            </a:r>
          </a:p>
          <a:p>
            <a:pPr marL="457200" indent="-457200" algn="just">
              <a:lnSpc>
                <a:spcPct val="150000"/>
              </a:lnSpc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win_flex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win_bison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(Windows ports of Flex &amp; Bison)</a:t>
            </a:r>
          </a:p>
          <a:p>
            <a:pPr marL="457200" indent="-457200" algn="just">
              <a:lnSpc>
                <a:spcPct val="150000"/>
              </a:lnSpc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Basic understanding of C</a:t>
            </a:r>
          </a:p>
          <a:p>
            <a:pPr marL="457200" indent="-457200" algn="just">
              <a:lnSpc>
                <a:spcPct val="150000"/>
              </a:lnSpc>
              <a:buClr>
                <a:srgbClr val="1CADE4"/>
              </a:buClr>
              <a:buFont typeface="Arial" panose="020B0604020202020204" pitchFamily="34" charset="0"/>
              <a:buChar char="•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560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728B3-6E6C-4EA7-8557-ACED6957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Environment Setup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0CFD8-F220-44D6-A934-E4C9BEFF0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7B565-4DBF-4879-B46B-0498AF22033A}"/>
              </a:ext>
            </a:extLst>
          </p:cNvPr>
          <p:cNvSpPr txBox="1"/>
          <p:nvPr/>
        </p:nvSpPr>
        <p:spPr>
          <a:xfrm>
            <a:off x="1024127" y="1856038"/>
            <a:ext cx="981320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Install Code::Blocks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(with MinGW)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Download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win_flex_bison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(e.g., https://github.com/lexxmark/winflexbison/releases)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Extract the ZIP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copy these files to C:\ :</a:t>
            </a: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Font typeface="Courier New" panose="02070309020205020404" pitchFamily="49" charset="0"/>
              <a:buChar char="o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win_flex.exe</a:t>
            </a: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Font typeface="Courier New" panose="02070309020205020404" pitchFamily="49" charset="0"/>
              <a:buChar char="o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win_bison.exe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 path to Environment Variables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Font typeface="Courier New" panose="02070309020205020404" pitchFamily="49" charset="0"/>
              <a:buChar char="o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Control Panel → System → Environment Variables</a:t>
            </a: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Font typeface="Courier New" panose="02070309020205020404" pitchFamily="49" charset="0"/>
              <a:buChar char="o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Edit Path → Add path to folder containing win_flex.exe and win_bison.exe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227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FE44-FACF-46BA-A025-9708CDCBF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Verify Installation (Command Prompt)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BEA86-6A70-4C20-9199-67421197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E74D3-C675-4002-9EB9-BAE83FDDA94F}"/>
              </a:ext>
            </a:extLst>
          </p:cNvPr>
          <p:cNvSpPr txBox="1"/>
          <p:nvPr/>
        </p:nvSpPr>
        <p:spPr>
          <a:xfrm>
            <a:off x="1102659" y="1944451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win_flex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--version</a:t>
            </a:r>
          </a:p>
          <a:p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win_bison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--version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0D918D-5F5E-4844-9ED7-FE8187F25B52}"/>
              </a:ext>
            </a:extLst>
          </p:cNvPr>
          <p:cNvSpPr txBox="1"/>
          <p:nvPr/>
        </p:nvSpPr>
        <p:spPr>
          <a:xfrm>
            <a:off x="1024128" y="3059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Both should show version info</a:t>
            </a:r>
          </a:p>
        </p:txBody>
      </p:sp>
    </p:spTree>
    <p:extLst>
      <p:ext uri="{BB962C8B-B14F-4D97-AF65-F5344CB8AC3E}">
        <p14:creationId xmlns:p14="http://schemas.microsoft.com/office/powerpoint/2010/main" val="152720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CE7A-ECA5-44D5-A45F-360FE3F48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Creating the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9A8B5-1E00-4CA2-845D-4ACA8223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17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43C884-8811-439E-88EC-CD7F6B0BB92B}"/>
              </a:ext>
            </a:extLst>
          </p:cNvPr>
          <p:cNvSpPr txBox="1"/>
          <p:nvPr/>
        </p:nvSpPr>
        <p:spPr>
          <a:xfrm>
            <a:off x="1138516" y="1951201"/>
            <a:ext cx="9108143" cy="256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 Code::Blocks → File → New →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 Application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Choose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 language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name: Week01FlexBison (Anything else)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Save in desired location (E:\ATC Sessional\Week01FlexBison)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045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4ED08-9792-4996-872A-88DCEC0D8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Create Input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C90B5-07F2-474C-B2D0-8C78D78DC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7FBB0-DDBB-49A5-B8A5-05D1C9FADCBD}"/>
              </a:ext>
            </a:extLst>
          </p:cNvPr>
          <p:cNvSpPr txBox="1"/>
          <p:nvPr/>
        </p:nvSpPr>
        <p:spPr>
          <a:xfrm>
            <a:off x="1120589" y="1854224"/>
            <a:ext cx="9623611" cy="256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 two new files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inside the project directory: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scanner.l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the Flex file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lexer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parser.y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the Bison file (parser)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 not compile these files directly — we’ll use Flex and Bison manually.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304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A299-A121-49A0-BD0F-FAB85019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Sample </a:t>
            </a:r>
            <a:r>
              <a:rPr lang="en-US" dirty="0" err="1">
                <a:solidFill>
                  <a:srgbClr val="1CADE4"/>
                </a:solidFill>
              </a:rPr>
              <a:t>scanner.l</a:t>
            </a:r>
            <a:endParaRPr lang="en-US" dirty="0">
              <a:solidFill>
                <a:srgbClr val="1CADE4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CED0DB-0919-4B38-83F6-0EC2D5ACB0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3599" y="1891308"/>
            <a:ext cx="7542167" cy="464998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0167F-7743-4C9E-8A1E-5EF2A2935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19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03472B5-A600-4BE3-8CF2-3A92C3EF90B6}"/>
              </a:ext>
            </a:extLst>
          </p:cNvPr>
          <p:cNvCxnSpPr/>
          <p:nvPr/>
        </p:nvCxnSpPr>
        <p:spPr>
          <a:xfrm>
            <a:off x="3720353" y="2510118"/>
            <a:ext cx="5558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2B086A72-9CD3-42DC-BC39-FD838EBBF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636" y="2029807"/>
            <a:ext cx="61458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header is generated by Bison and contains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token definitions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(like NUMBER, IDENTIFIER)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yylval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403A0-F49E-4D08-B58F-7C886160B95C}"/>
              </a:ext>
            </a:extLst>
          </p:cNvPr>
          <p:cNvSpPr txBox="1"/>
          <p:nvPr/>
        </p:nvSpPr>
        <p:spPr>
          <a:xfrm>
            <a:off x="3263153" y="2595282"/>
            <a:ext cx="914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400" dirty="0">
                <a:solidFill>
                  <a:srgbClr val="1CADE4"/>
                </a:solidFill>
              </a:rPr>
              <a:t>}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8A55EC-9F66-423D-B631-2A5874AE0914}"/>
              </a:ext>
            </a:extLst>
          </p:cNvPr>
          <p:cNvCxnSpPr/>
          <p:nvPr/>
        </p:nvCxnSpPr>
        <p:spPr>
          <a:xfrm>
            <a:off x="3747247" y="3227295"/>
            <a:ext cx="5558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E880ECD-62B6-4D68-B77C-46130E33B2B7}"/>
              </a:ext>
            </a:extLst>
          </p:cNvPr>
          <p:cNvSpPr txBox="1"/>
          <p:nvPr/>
        </p:nvSpPr>
        <p:spPr>
          <a:xfrm>
            <a:off x="4430546" y="3005742"/>
            <a:ext cx="6237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 libraries for I/O, memory, and string manipulation.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B41127-6DBB-47CC-A30F-F12A89F43359}"/>
              </a:ext>
            </a:extLst>
          </p:cNvPr>
          <p:cNvSpPr txBox="1"/>
          <p:nvPr/>
        </p:nvSpPr>
        <p:spPr>
          <a:xfrm>
            <a:off x="1024128" y="1640114"/>
            <a:ext cx="9813205" cy="2308324"/>
          </a:xfrm>
          <a:prstGeom prst="rect">
            <a:avLst/>
          </a:prstGeom>
          <a:noFill/>
          <a:ln>
            <a:solidFill>
              <a:srgbClr val="1CADE4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Header Section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11FEB55F-0DE2-47E1-9145-27A3BAE70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9ECEC4E9-C6B0-4E17-B37B-542D6BAF1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542600-882E-45F1-B591-217F5F6E7F41}"/>
              </a:ext>
            </a:extLst>
          </p:cNvPr>
          <p:cNvSpPr txBox="1"/>
          <p:nvPr/>
        </p:nvSpPr>
        <p:spPr>
          <a:xfrm>
            <a:off x="1024127" y="4002104"/>
            <a:ext cx="9813205" cy="2585323"/>
          </a:xfrm>
          <a:prstGeom prst="rect">
            <a:avLst/>
          </a:prstGeom>
          <a:noFill/>
          <a:ln>
            <a:solidFill>
              <a:srgbClr val="1CADE4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Rules Section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312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A87B1-CC86-4DB3-BBDE-8F278E377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Sample </a:t>
            </a:r>
            <a:r>
              <a:rPr lang="en-US" dirty="0" err="1">
                <a:solidFill>
                  <a:srgbClr val="1CADE4"/>
                </a:solidFill>
              </a:rPr>
              <a:t>scanner.l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B167B-C3EE-48E1-B6BC-CC6B6B5A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8EC269-34C4-4AC8-A2E3-D18FD1DB7870}"/>
              </a:ext>
            </a:extLst>
          </p:cNvPr>
          <p:cNvSpPr txBox="1"/>
          <p:nvPr/>
        </p:nvSpPr>
        <p:spPr>
          <a:xfrm>
            <a:off x="1093694" y="1609655"/>
            <a:ext cx="10237694" cy="46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yytext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 global char* holding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matched 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(e.g., "123").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atoi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yytext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): Converts the matched string to an integer.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yylval.ival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Stores the integer in the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yacc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(Bison) semantic value union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 NUMBER: Returns the token NUMBER to the parser.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strdup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yytext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): Duplicates the string (allocates memory and copies text).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yylval.sval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Stores the string value for the parser to use.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 IDENTIFIER: Returns IDENTIFIER token to Bison.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Returns '+' as a character token (Bison treats single-character tokens like +, =, ; directly). 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yytext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[0];: Returns the actual character matched.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Useful for operators like =, ;, *, etc. that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handled directly by their character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the parser.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461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67A17-5FDA-482B-AD48-A136015BD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Sample </a:t>
            </a:r>
            <a:r>
              <a:rPr lang="en-US" dirty="0" err="1">
                <a:solidFill>
                  <a:srgbClr val="1CADE4"/>
                </a:solidFill>
              </a:rPr>
              <a:t>parser.y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B4106-A304-4403-B6F8-AEE093895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21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A176658-AB1F-4204-948E-B86B2E37B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6891" y="1963270"/>
            <a:ext cx="4601696" cy="4022725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E0856A-B0C8-4437-9BED-7EC8F9B8F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63271"/>
            <a:ext cx="5802247" cy="40227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A336D8-8044-4F72-ACED-5005F7A686D2}"/>
              </a:ext>
            </a:extLst>
          </p:cNvPr>
          <p:cNvSpPr txBox="1"/>
          <p:nvPr/>
        </p:nvSpPr>
        <p:spPr>
          <a:xfrm>
            <a:off x="1024128" y="1692438"/>
            <a:ext cx="4704459" cy="1938992"/>
          </a:xfrm>
          <a:prstGeom prst="rect">
            <a:avLst/>
          </a:prstGeom>
          <a:noFill/>
          <a:ln>
            <a:solidFill>
              <a:srgbClr val="1CADE4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Header Section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183101E-3BF6-4D8F-B4CF-A8E7D5E03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3910" y="2774034"/>
            <a:ext cx="411590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Declaration of the scanner function (defined 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scanner.l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DC1C06-97EF-414F-97D6-C21A4FFF26A2}"/>
              </a:ext>
            </a:extLst>
          </p:cNvPr>
          <p:cNvSpPr txBox="1"/>
          <p:nvPr/>
        </p:nvSpPr>
        <p:spPr>
          <a:xfrm>
            <a:off x="3227294" y="3139730"/>
            <a:ext cx="3236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Called by Bison to report 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 errors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28D0CFE-5298-4337-96BB-9D9FD2F3A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468" y="3336442"/>
            <a:ext cx="460953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Tells the scanner when to stop reading input (1 = no more input).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420BF5-CDBF-4E5A-BB4E-A46CD279DFC4}"/>
              </a:ext>
            </a:extLst>
          </p:cNvPr>
          <p:cNvSpPr txBox="1"/>
          <p:nvPr/>
        </p:nvSpPr>
        <p:spPr>
          <a:xfrm>
            <a:off x="1024128" y="3649419"/>
            <a:ext cx="4704459" cy="738664"/>
          </a:xfrm>
          <a:prstGeom prst="rect">
            <a:avLst/>
          </a:prstGeom>
          <a:noFill/>
          <a:ln>
            <a:solidFill>
              <a:srgbClr val="1CADE4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Declare the Union for Semantic Values</a:t>
            </a:r>
          </a:p>
          <a:p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 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27C9E3-EAC0-4B77-8D69-EAE6CD15CB31}"/>
              </a:ext>
            </a:extLst>
          </p:cNvPr>
          <p:cNvSpPr txBox="1"/>
          <p:nvPr/>
        </p:nvSpPr>
        <p:spPr>
          <a:xfrm>
            <a:off x="2233910" y="3991530"/>
            <a:ext cx="34946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Defines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named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yylval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carry semantic values between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lexer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parser. 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D42389-D46E-40A5-8D4A-53DA3B7868AA}"/>
              </a:ext>
            </a:extLst>
          </p:cNvPr>
          <p:cNvSpPr txBox="1"/>
          <p:nvPr/>
        </p:nvSpPr>
        <p:spPr>
          <a:xfrm>
            <a:off x="1075509" y="4582570"/>
            <a:ext cx="4704459" cy="830997"/>
          </a:xfrm>
          <a:prstGeom prst="rect">
            <a:avLst/>
          </a:prstGeom>
          <a:noFill/>
          <a:ln>
            <a:solidFill>
              <a:srgbClr val="1CADE4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Declare Tokens and Types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7DCAF441-97E2-4046-A66F-072309A97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318" y="4786181"/>
            <a:ext cx="401802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Tells Bison that the NUMBER token carries an int value. 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21AE8D18-A649-4C8A-A7E0-6A6FB6F64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8024" y="4924680"/>
            <a:ext cx="375673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Tells Bison that IDENTIFIER carries a char* (string). 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8CA41DAD-E782-4B9F-8DCE-2065CB2B4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599" y="5167035"/>
            <a:ext cx="368081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non-terminal expression will evaluate to an int.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12CCF0-DA20-4B3E-8461-6034DBA67B7C}"/>
              </a:ext>
            </a:extLst>
          </p:cNvPr>
          <p:cNvSpPr txBox="1"/>
          <p:nvPr/>
        </p:nvSpPr>
        <p:spPr>
          <a:xfrm>
            <a:off x="1075509" y="5492551"/>
            <a:ext cx="4704459" cy="461665"/>
          </a:xfrm>
          <a:prstGeom prst="rect">
            <a:avLst/>
          </a:prstGeom>
          <a:noFill/>
          <a:ln>
            <a:solidFill>
              <a:srgbClr val="1CADE4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Operator Precedence and Associativity</a:t>
            </a:r>
          </a:p>
          <a:p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38FB5CC5-2B9E-4BB6-B466-164CBDEBB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0233" y="5650998"/>
            <a:ext cx="292054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Defines + as a left-associative operator.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2D487D-3137-4E63-B1EF-0B4900160C66}"/>
              </a:ext>
            </a:extLst>
          </p:cNvPr>
          <p:cNvSpPr txBox="1"/>
          <p:nvPr/>
        </p:nvSpPr>
        <p:spPr>
          <a:xfrm>
            <a:off x="6065431" y="1849700"/>
            <a:ext cx="4704459" cy="3600986"/>
          </a:xfrm>
          <a:prstGeom prst="rect">
            <a:avLst/>
          </a:prstGeom>
          <a:noFill/>
          <a:ln>
            <a:solidFill>
              <a:srgbClr val="1CADE4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Grammar Rules Section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F2514F2F-7CBE-4CFD-B3CA-7B38BC2A3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8683" y="2069459"/>
            <a:ext cx="497432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This is 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start symbol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 It defines a program as: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empty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, or a sequence of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statements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 This allows parsing multiple statements. </a:t>
            </a: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2736548A-1F08-4D90-BFA9-260F25BED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9464" y="3331960"/>
            <a:ext cx="561276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$1 = the identifier (e.g., "x")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$3 = the result of the expression on the right-hand side (e.g., 5)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free($1);: Frees the dynamically allocated memory from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strdup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in the scanner.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47B372-CE6C-43F4-88C1-4807C820A7A6}"/>
              </a:ext>
            </a:extLst>
          </p:cNvPr>
          <p:cNvSpPr txBox="1"/>
          <p:nvPr/>
        </p:nvSpPr>
        <p:spPr>
          <a:xfrm>
            <a:off x="10452782" y="4105230"/>
            <a:ext cx="169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single number just evaluates to its value.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F0F7A5-F11F-4B2B-A869-A9C0FEB37E20}"/>
              </a:ext>
            </a:extLst>
          </p:cNvPr>
          <p:cNvSpPr txBox="1"/>
          <p:nvPr/>
        </p:nvSpPr>
        <p:spPr>
          <a:xfrm>
            <a:off x="10328798" y="4509167"/>
            <a:ext cx="19293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Treated as 0 for simplicity</a:t>
            </a:r>
          </a:p>
        </p:txBody>
      </p:sp>
      <p:sp>
        <p:nvSpPr>
          <p:cNvPr id="29" name="Rectangle 11">
            <a:extLst>
              <a:ext uri="{FF2B5EF4-FFF2-40B4-BE49-F238E27FC236}">
                <a16:creationId xmlns:a16="http://schemas.microsoft.com/office/drawing/2014/main" id="{718621D7-8ECE-4344-B9CA-745C2D3CE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938" y="5051604"/>
            <a:ext cx="373852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Evaluates a + b by adding the two sub-expressions. </a:t>
            </a:r>
          </a:p>
        </p:txBody>
      </p:sp>
      <p:sp>
        <p:nvSpPr>
          <p:cNvPr id="30" name="Rectangle 12">
            <a:extLst>
              <a:ext uri="{FF2B5EF4-FFF2-40B4-BE49-F238E27FC236}">
                <a16:creationId xmlns:a16="http://schemas.microsoft.com/office/drawing/2014/main" id="{989610B1-FCCE-45F4-919D-E47F04C85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8284" y="5769017"/>
            <a:ext cx="51305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entry point of the program.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yyparse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starts the parsing process, calling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yylex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to get tokens and applying grammar rules.</a:t>
            </a:r>
          </a:p>
        </p:txBody>
      </p:sp>
    </p:spTree>
    <p:extLst>
      <p:ext uri="{BB962C8B-B14F-4D97-AF65-F5344CB8AC3E}">
        <p14:creationId xmlns:p14="http://schemas.microsoft.com/office/powerpoint/2010/main" val="25751376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94450-E911-47F7-BD39-4FDD82869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Generate Output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74EE0-3980-420B-9A6F-516492E2C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22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2BC067-55E3-4BB3-B548-58C15B98A1D0}"/>
              </a:ext>
            </a:extLst>
          </p:cNvPr>
          <p:cNvSpPr txBox="1"/>
          <p:nvPr/>
        </p:nvSpPr>
        <p:spPr>
          <a:xfrm>
            <a:off x="1024128" y="1997839"/>
            <a:ext cx="972007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From CMD (in project folder):</a:t>
            </a:r>
          </a:p>
          <a:p>
            <a:pPr lvl="1" algn="just"/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win_bison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-d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parser.y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→ generates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parser.tab.c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parser.tab.h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win_flex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scanner.l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     → generates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lex.yy.c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 these 2 files to Code::Blocks project: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parser.tab.c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lex.yy.c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Delete default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main.c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357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EA8C-4901-4B4C-ABA1-FC587EE9D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Build and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E50B9-27AF-4199-B20A-7AF752EAB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Input:</a:t>
            </a:r>
          </a:p>
          <a:p>
            <a:r>
              <a:rPr lang="pt-BR" dirty="0"/>
              <a:t>x = 5 + 10;</a:t>
            </a:r>
          </a:p>
          <a:p>
            <a:r>
              <a:rPr lang="pt-BR" dirty="0"/>
              <a:t>a = 4;</a:t>
            </a:r>
            <a:endParaRPr lang="en-US" dirty="0"/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r>
              <a:rPr lang="en-US" dirty="0"/>
              <a:t>Assign 15 to x</a:t>
            </a:r>
          </a:p>
          <a:p>
            <a:r>
              <a:rPr lang="en-US" dirty="0"/>
              <a:t>Assign 4 to 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68E79-3770-43D6-8E9F-22757B7E3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663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4972-B93D-4671-83E8-C06AA994E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Functions Summary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6EEBB8-FE95-4D26-A1D1-A82DCF53A6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053072"/>
              </p:ext>
            </p:extLst>
          </p:nvPr>
        </p:nvGraphicFramePr>
        <p:xfrm>
          <a:off x="1117073" y="2084832"/>
          <a:ext cx="9720260" cy="313944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430065">
                  <a:extLst>
                    <a:ext uri="{9D8B030D-6E8A-4147-A177-3AD203B41FA5}">
                      <a16:colId xmlns:a16="http://schemas.microsoft.com/office/drawing/2014/main" val="1844564718"/>
                    </a:ext>
                  </a:extLst>
                </a:gridCol>
                <a:gridCol w="2430065">
                  <a:extLst>
                    <a:ext uri="{9D8B030D-6E8A-4147-A177-3AD203B41FA5}">
                      <a16:colId xmlns:a16="http://schemas.microsoft.com/office/drawing/2014/main" val="4228192875"/>
                    </a:ext>
                  </a:extLst>
                </a:gridCol>
                <a:gridCol w="2430065">
                  <a:extLst>
                    <a:ext uri="{9D8B030D-6E8A-4147-A177-3AD203B41FA5}">
                      <a16:colId xmlns:a16="http://schemas.microsoft.com/office/drawing/2014/main" val="2246459443"/>
                    </a:ext>
                  </a:extLst>
                </a:gridCol>
                <a:gridCol w="2430065">
                  <a:extLst>
                    <a:ext uri="{9D8B030D-6E8A-4147-A177-3AD203B41FA5}">
                      <a16:colId xmlns:a16="http://schemas.microsoft.com/office/drawing/2014/main" val="16102969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Function</a:t>
                      </a:r>
                      <a:endParaRPr lang="en-US" sz="2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/>
                        <a:t>Role</a:t>
                      </a:r>
                      <a:endParaRPr lang="en-US" sz="22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/>
                        <a:t>Defined Where</a:t>
                      </a:r>
                      <a:endParaRPr lang="en-US" sz="22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Called By</a:t>
                      </a:r>
                      <a:endParaRPr lang="en-US" sz="2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451497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/>
                        <a:t>yylex</a:t>
                      </a:r>
                      <a:r>
                        <a:rPr lang="en-US" sz="2200" dirty="0"/>
                        <a:t>()</a:t>
                      </a:r>
                      <a:endParaRPr lang="en-US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Returns tokens using regex</a:t>
                      </a:r>
                      <a:endParaRPr lang="en-US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Generated by Flex (scanner.l)</a:t>
                      </a:r>
                      <a:endParaRPr lang="en-US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Called by yyparse()</a:t>
                      </a:r>
                      <a:endParaRPr lang="en-US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42406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/>
                        <a:t>yyparse</a:t>
                      </a:r>
                      <a:r>
                        <a:rPr lang="en-US" sz="2200" dirty="0"/>
                        <a:t>()</a:t>
                      </a:r>
                      <a:endParaRPr lang="en-US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Main parser loop</a:t>
                      </a:r>
                      <a:endParaRPr lang="en-US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Generated by Bison (parser.y)</a:t>
                      </a:r>
                      <a:endParaRPr lang="en-US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Called by main()</a:t>
                      </a:r>
                      <a:endParaRPr lang="en-US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002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yyerror()</a:t>
                      </a:r>
                      <a:endParaRPr lang="en-US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Handles syntax errors</a:t>
                      </a:r>
                      <a:endParaRPr lang="en-US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Defined in parser.y</a:t>
                      </a:r>
                      <a:endParaRPr lang="it-IT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Called by yyparse()</a:t>
                      </a:r>
                      <a:endParaRPr lang="en-US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8835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yywrap()</a:t>
                      </a:r>
                      <a:endParaRPr lang="en-US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Signals end of input</a:t>
                      </a:r>
                      <a:endParaRPr lang="en-US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Defined</a:t>
                      </a:r>
                      <a:endParaRPr lang="en-US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Called by </a:t>
                      </a:r>
                      <a:r>
                        <a:rPr lang="en-US" sz="2200" dirty="0" err="1"/>
                        <a:t>yylex</a:t>
                      </a:r>
                      <a:r>
                        <a:rPr lang="en-US" sz="2200" dirty="0"/>
                        <a:t>()</a:t>
                      </a:r>
                      <a:endParaRPr lang="en-US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288542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40A42-D5C4-4F49-9B63-86373E74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9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117A-9EFB-47BC-97A4-C608F6114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How it works?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763C1-D814-4AB0-AC09-297C257D4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25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A51A9E-11C6-4D42-BCEA-186E636C5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886" y="1958917"/>
            <a:ext cx="5837514" cy="382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985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530F1-D2CE-4181-A72D-454056ACA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CADE4"/>
                </a:solidFill>
              </a:rPr>
              <a:t>Summary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F56A1-3BD1-4E5F-B259-1645DD095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1D29-DF77-4731-85B7-78FFF9CA8C6D}" type="slidenum">
              <a:rPr lang="en-US" smtClean="0"/>
              <a:t>26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3A23B8-B126-4ECF-A159-6190D8CF4C2F}"/>
              </a:ext>
            </a:extLst>
          </p:cNvPr>
          <p:cNvSpPr txBox="1"/>
          <p:nvPr/>
        </p:nvSpPr>
        <p:spPr>
          <a:xfrm>
            <a:off x="1024128" y="1972402"/>
            <a:ext cx="834399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Concepts:</a:t>
            </a:r>
          </a:p>
          <a:p>
            <a:pPr marL="742950" lvl="1" indent="-285750" algn="just"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Lexical vs Syntactic Analysis</a:t>
            </a:r>
          </a:p>
          <a:p>
            <a:pPr marL="742950" lvl="1" indent="-285750" algn="just"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Tokenizing with Flex</a:t>
            </a:r>
          </a:p>
          <a:p>
            <a:pPr marL="742950" lvl="1" indent="-285750" algn="just"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Parsing with Bison</a:t>
            </a:r>
          </a:p>
          <a:p>
            <a:pPr lvl="1" algn="just">
              <a:buClr>
                <a:srgbClr val="1CADE4"/>
              </a:buClr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Skills:</a:t>
            </a:r>
          </a:p>
          <a:p>
            <a:pPr marL="742950" lvl="1" indent="-285750" algn="just"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Installed &amp; configured tools</a:t>
            </a:r>
          </a:p>
          <a:p>
            <a:pPr marL="742950" lvl="1" indent="-285750" algn="just"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Created and linked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lexer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/parser</a:t>
            </a:r>
          </a:p>
          <a:p>
            <a:pPr marL="742950" lvl="1" indent="-285750" algn="just"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Ran a working arithmetic parser</a:t>
            </a:r>
          </a:p>
          <a:p>
            <a:pPr lvl="1" algn="just">
              <a:buClr>
                <a:srgbClr val="1CADE4"/>
              </a:buClr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211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1187</TotalTime>
  <Words>1622</Words>
  <Application>Microsoft Office PowerPoint</Application>
  <PresentationFormat>Widescreen</PresentationFormat>
  <Paragraphs>321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Courier New</vt:lpstr>
      <vt:lpstr>Tw Cen MT</vt:lpstr>
      <vt:lpstr>Tw Cen MT Condensed</vt:lpstr>
      <vt:lpstr>Wingdings 3</vt:lpstr>
      <vt:lpstr>Integral</vt:lpstr>
      <vt:lpstr>Automata Theory &amp; Compiler Sess. Lecture 01 </vt:lpstr>
      <vt:lpstr>Session Overview</vt:lpstr>
      <vt:lpstr>What is compiler?</vt:lpstr>
      <vt:lpstr>Phases of a compiler</vt:lpstr>
      <vt:lpstr>What is flex?</vt:lpstr>
      <vt:lpstr>What is bison?</vt:lpstr>
      <vt:lpstr>Regular Expression (Regex)</vt:lpstr>
      <vt:lpstr>Common Regex Symbols Used in Lexical Analysis</vt:lpstr>
      <vt:lpstr>Example: A Simple Statement Parser</vt:lpstr>
      <vt:lpstr>Step 1: Lexical Analysis using Flex</vt:lpstr>
      <vt:lpstr>Step 1: Lexical Analysis using Flex</vt:lpstr>
      <vt:lpstr>Step 2: Syntax Analysis using Bison</vt:lpstr>
      <vt:lpstr>summary</vt:lpstr>
      <vt:lpstr>System Requirements</vt:lpstr>
      <vt:lpstr>Environment Setup</vt:lpstr>
      <vt:lpstr>Verify Installation (Command Prompt)</vt:lpstr>
      <vt:lpstr>Creating the Project</vt:lpstr>
      <vt:lpstr>Create Input Files</vt:lpstr>
      <vt:lpstr>Sample scanner.l</vt:lpstr>
      <vt:lpstr>Sample scanner.l</vt:lpstr>
      <vt:lpstr>Sample parser.y</vt:lpstr>
      <vt:lpstr>Generate Output Files</vt:lpstr>
      <vt:lpstr>Build and Run</vt:lpstr>
      <vt:lpstr>Functions Summary</vt:lpstr>
      <vt:lpstr>How it works?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Mehedi Hasan Fahim</cp:lastModifiedBy>
  <cp:revision>319</cp:revision>
  <dcterms:created xsi:type="dcterms:W3CDTF">2023-11-02T12:48:28Z</dcterms:created>
  <dcterms:modified xsi:type="dcterms:W3CDTF">2025-11-24T21:54:53Z</dcterms:modified>
</cp:coreProperties>
</file>